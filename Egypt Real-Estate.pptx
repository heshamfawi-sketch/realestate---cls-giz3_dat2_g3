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5"/>
  </p:notesMasterIdLst>
  <p:handoutMasterIdLst>
    <p:handoutMasterId r:id="rId26"/>
  </p:handoutMasterIdLst>
  <p:sldIdLst>
    <p:sldId id="2561" r:id="rId5"/>
    <p:sldId id="2575" r:id="rId6"/>
    <p:sldId id="2562" r:id="rId7"/>
    <p:sldId id="2563" r:id="rId8"/>
    <p:sldId id="2565" r:id="rId9"/>
    <p:sldId id="2566" r:id="rId10"/>
    <p:sldId id="2567" r:id="rId11"/>
    <p:sldId id="2576" r:id="rId12"/>
    <p:sldId id="2568" r:id="rId13"/>
    <p:sldId id="2569" r:id="rId14"/>
    <p:sldId id="2578" r:id="rId15"/>
    <p:sldId id="2579" r:id="rId16"/>
    <p:sldId id="2573" r:id="rId17"/>
    <p:sldId id="2581" r:id="rId18"/>
    <p:sldId id="2582" r:id="rId19"/>
    <p:sldId id="2583" r:id="rId20"/>
    <p:sldId id="2584" r:id="rId21"/>
    <p:sldId id="2585" r:id="rId22"/>
    <p:sldId id="2574" r:id="rId23"/>
    <p:sldId id="25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al Estate Project Analysis Using Power BI" id="{EAE92897-BC30-4258-855C-CB3A8906FB9E}">
          <p14:sldIdLst>
            <p14:sldId id="2561"/>
            <p14:sldId id="2575"/>
          </p14:sldIdLst>
        </p14:section>
        <p14:section name="Introduction and Agenda" id="{988E41AD-9AEE-430D-96F4-328A9C561437}">
          <p14:sldIdLst>
            <p14:sldId id="2562"/>
            <p14:sldId id="2563"/>
          </p14:sldIdLst>
        </p14:section>
        <p14:section name="Project Overview and Methodology" id="{46F06928-1883-4D4A-9ACB-215F84E45A36}">
          <p14:sldIdLst>
            <p14:sldId id="2565"/>
            <p14:sldId id="2566"/>
            <p14:sldId id="2567"/>
            <p14:sldId id="2576"/>
          </p14:sldIdLst>
        </p14:section>
        <p14:section name="Analysis and Insights" id="{F50E6384-B4B4-457A-B08D-D5512692A488}">
          <p14:sldIdLst>
            <p14:sldId id="2568"/>
            <p14:sldId id="2569"/>
            <p14:sldId id="2578"/>
            <p14:sldId id="2579"/>
          </p14:sldIdLst>
        </p14:section>
        <p14:section name="Conclusion" id="{67A52358-FDE8-4877-BFCC-752265D2774B}">
          <p14:sldIdLst>
            <p14:sldId id="2573"/>
            <p14:sldId id="2581"/>
            <p14:sldId id="2582"/>
            <p14:sldId id="2583"/>
            <p14:sldId id="2584"/>
            <p14:sldId id="2585"/>
            <p14:sldId id="2574"/>
            <p14:sldId id="25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49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31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6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0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20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44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9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06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96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59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6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31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02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80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6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02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19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1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02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EA5D59-5512-467D-834D-D04827A6AF83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2362D5-E350-46C5-8BB1-F9E806A91933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BFE899EF-3666-4EAB-A626-E7AA02E66CC1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9EEDB3-BC19-4021-830F-B822E1DE9789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014DD65C-314F-4399-90A8-B6DFCAF21BE4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7A3B59-4DAC-4AFE-874D-3A86EC3801A0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76FC08D9-20DE-421C-BE4E-310427BB699B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FC08D9-20DE-421C-BE4E-310427BB699B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F1AC263-88EE-42CC-B640-B12BA856CF7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68A32F6A-E7E2-4607-B207-B787B539B85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467FC12-63BB-4A63-9424-BFBF8E1D71D9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892AD61-D199-4B74-B80B-2001400510FA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00D9374-B0AF-43C5-90A8-C409C7D54B55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BB6888-43ED-4D3A-B8DA-89EF29644561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27C7479B-2077-4468-85E0-F9294B46DEAE}" type="datetime1">
              <a:rPr lang="en-US" smtClean="0"/>
              <a:t>12/1/2025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28E9021D-675F-4984-8FE0-04DA4F4E22F1}" type="datetime1">
              <a:rPr lang="en-US" smtClean="0"/>
              <a:t>12/1/2025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A7F72289-EB8A-47CA-A283-A769C9E761BF}" type="datetime1">
              <a:rPr lang="en-US" smtClean="0"/>
              <a:t>12/1/2025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12/1/2025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12/1/2025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12/1/2025</a:t>
            </a:fld>
            <a:endParaRPr lang="en-US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12/1/2025</a:t>
            </a:fld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86C921-50A5-4289-8B96-30101E64A548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B948B66-4D7B-4FF2-9F42-B85226272225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D1D18D0-7308-42C5-B784-8892F327ABD3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12/1/2025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6C46EC71-0129-40A3-85CE-244216EACC39}" type="datetime1">
              <a:rPr lang="en-US" smtClean="0"/>
              <a:t>12/1/2025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CC8FB4D-92F2-4C28-8BFC-2AE0229C3E9A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B708C30-1428-4C16-AD49-DE42CFEA37BF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DCE8854E-90F8-4761-A9B8-18B1C5A3D25C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DF09C0-6535-4055-81CC-988E059C8EE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85187EE-7BBC-405E-B3F5-9C3E8897035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7A35BA-41D5-4E87-94C2-E365E2A3656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A4345C7-9F39-4767-92C9-EBF29396D0A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6891D2-C712-4357-A4F9-7362E459A272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4566FD-24FB-4338-A35C-D9AE347B4F66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2BF1DD-1BF4-406D-9906-B4846BCC8D55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0A52C9-A7D6-4EB8-8F3D-1519181DDC1D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E9CE581-A048-42A8-B14C-488A3338D2F0}" type="datetime1">
              <a:rPr lang="en-US" smtClean="0"/>
              <a:t>12/1/2025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37B15FB-E45F-4977-9C40-BB6531CE6EA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8922BC5-E711-4A36-A80E-0A418F83672D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1D94988-488B-40CC-9623-27A54F95F7B4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A3C7011-18F0-49E4-85C9-3E22BE44E3EB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B1E6060-C53E-4F28-8D83-0C4FB26C4A3F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D3D1E3E-5DD4-4BAD-A138-1254BF94C224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DF4F7BB-A1DF-4BD2-8D5B-CA9EB40127CE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6063-C466-EC42-E9E4-4C465C247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anchor="t">
            <a:normAutofit/>
          </a:bodyPr>
          <a:lstStyle/>
          <a:p>
            <a:r>
              <a:rPr lang="en-US" sz="4400" dirty="0"/>
              <a:t>Real Estate Project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F40F3-53F7-8134-4E99-EC8EBA83E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anchor="t">
            <a:normAutofit/>
          </a:bodyPr>
          <a:lstStyle/>
          <a:p>
            <a:r>
              <a:rPr lang="en-US" dirty="0"/>
              <a:t>Visualizing property data for informed decision making</a:t>
            </a:r>
          </a:p>
        </p:txBody>
      </p:sp>
      <p:pic>
        <p:nvPicPr>
          <p:cNvPr id="4" name="Picture 3" descr="Shot of a computer with a graph on the screen in an empty laboratory">
            <a:extLst>
              <a:ext uri="{FF2B5EF4-FFF2-40B4-BE49-F238E27FC236}">
                <a16:creationId xmlns:a16="http://schemas.microsoft.com/office/drawing/2014/main" id="{7F1F1C75-DB95-449E-9053-05EEB7578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50" r="22629" b="2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108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2286-409C-D8A6-8E42-873C0A811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1339646"/>
          </a:xfrm>
        </p:spPr>
        <p:txBody>
          <a:bodyPr/>
          <a:lstStyle/>
          <a:p>
            <a:r>
              <a:rPr lang="en-US" dirty="0"/>
              <a:t>Presented By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B9082-C64C-7746-7985-0BF45542D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534353"/>
            <a:ext cx="7080507" cy="2067143"/>
          </a:xfrm>
        </p:spPr>
        <p:txBody>
          <a:bodyPr/>
          <a:lstStyle/>
          <a:p>
            <a:r>
              <a:rPr lang="en-US" dirty="0"/>
              <a:t>1- Hesham Ahmed Suliman</a:t>
            </a:r>
          </a:p>
          <a:p>
            <a:r>
              <a:rPr lang="en-US" dirty="0"/>
              <a:t>2- Omar Abdelrahman Ali</a:t>
            </a:r>
          </a:p>
          <a:p>
            <a:r>
              <a:rPr lang="en-US" dirty="0"/>
              <a:t>3- </a:t>
            </a:r>
            <a:r>
              <a:rPr lang="en-US" dirty="0" err="1"/>
              <a:t>Hoda</a:t>
            </a:r>
            <a:r>
              <a:rPr lang="en-US" dirty="0"/>
              <a:t> Ahmed Mohamed</a:t>
            </a:r>
          </a:p>
          <a:p>
            <a:r>
              <a:rPr lang="en-US" dirty="0"/>
              <a:t>4- Samir Tarik Hassan</a:t>
            </a:r>
          </a:p>
          <a:p>
            <a:r>
              <a:rPr lang="en-US" dirty="0"/>
              <a:t>5- </a:t>
            </a:r>
            <a:r>
              <a:rPr lang="en-US" dirty="0" err="1"/>
              <a:t>Sherouk</a:t>
            </a:r>
            <a:r>
              <a:rPr lang="en-US" dirty="0"/>
              <a:t> Mahmoud </a:t>
            </a:r>
            <a:r>
              <a:rPr lang="en-US" dirty="0" err="1"/>
              <a:t>Abdelnaby</a:t>
            </a:r>
            <a:endParaRPr lang="en-US" dirty="0"/>
          </a:p>
        </p:txBody>
      </p:sp>
      <p:pic>
        <p:nvPicPr>
          <p:cNvPr id="21" name="Picture Placeholder 20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8A142C36-ADE7-C846-B76B-361EE191AE2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6" r="26526"/>
          <a:stretch>
            <a:fillRect/>
          </a:stretch>
        </p:blipFill>
        <p:spPr>
          <a:xfrm>
            <a:off x="10664859" y="1371599"/>
            <a:ext cx="1527142" cy="1371600"/>
          </a:xfrm>
        </p:spPr>
      </p:pic>
      <p:pic>
        <p:nvPicPr>
          <p:cNvPr id="23" name="Picture 22" descr="A person with a beard&#10;&#10;AI-generated content may be incorrect.">
            <a:extLst>
              <a:ext uri="{FF2B5EF4-FFF2-40B4-BE49-F238E27FC236}">
                <a16:creationId xmlns:a16="http://schemas.microsoft.com/office/drawing/2014/main" id="{78748DE7-E7B7-F479-E276-7CF3607FD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858" y="-1"/>
            <a:ext cx="1527142" cy="1371600"/>
          </a:xfrm>
          <a:prstGeom prst="rect">
            <a:avLst/>
          </a:prstGeom>
        </p:spPr>
      </p:pic>
      <p:pic>
        <p:nvPicPr>
          <p:cNvPr id="25" name="Picture 24" descr="A person in a white shirt&#10;&#10;AI-generated content may be incorrect.">
            <a:extLst>
              <a:ext uri="{FF2B5EF4-FFF2-40B4-BE49-F238E27FC236}">
                <a16:creationId xmlns:a16="http://schemas.microsoft.com/office/drawing/2014/main" id="{547F18C8-B175-0574-BDAB-16C5DA2AB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858" y="4114801"/>
            <a:ext cx="1527142" cy="1371600"/>
          </a:xfrm>
          <a:prstGeom prst="rect">
            <a:avLst/>
          </a:prstGeom>
        </p:spPr>
      </p:pic>
      <p:pic>
        <p:nvPicPr>
          <p:cNvPr id="27" name="Picture 26" descr="A person wearing a red scarf&#10;&#10;AI-generated content may be incorrect.">
            <a:extLst>
              <a:ext uri="{FF2B5EF4-FFF2-40B4-BE49-F238E27FC236}">
                <a16:creationId xmlns:a16="http://schemas.microsoft.com/office/drawing/2014/main" id="{00462EA6-2977-A4E0-527D-4E7D40E9D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859" y="2743200"/>
            <a:ext cx="1527142" cy="1371600"/>
          </a:xfrm>
          <a:prstGeom prst="rect">
            <a:avLst/>
          </a:prstGeom>
        </p:spPr>
      </p:pic>
      <p:pic>
        <p:nvPicPr>
          <p:cNvPr id="29" name="Picture 28" descr="A person wearing a red jacket and white scarf&#10;&#10;AI-generated content may be incorrect.">
            <a:extLst>
              <a:ext uri="{FF2B5EF4-FFF2-40B4-BE49-F238E27FC236}">
                <a16:creationId xmlns:a16="http://schemas.microsoft.com/office/drawing/2014/main" id="{DBC64F5A-B0DF-2C5A-2EBC-3A736EC13C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857" y="5486400"/>
            <a:ext cx="152714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3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2E0F-D019-385B-3568-7DA31DEA9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rmAutofit/>
          </a:bodyPr>
          <a:lstStyle/>
          <a:p>
            <a:r>
              <a:rPr lang="en-US"/>
              <a:t>Introduction and Agenda</a:t>
            </a:r>
          </a:p>
        </p:txBody>
      </p:sp>
    </p:spTree>
    <p:extLst>
      <p:ext uri="{BB962C8B-B14F-4D97-AF65-F5344CB8AC3E}">
        <p14:creationId xmlns:p14="http://schemas.microsoft.com/office/powerpoint/2010/main" val="20530389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D9DC-EE29-6338-E190-FD26BE5F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E6C13-2D6D-041A-4074-57D1AD37CFCE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1965960"/>
            <a:ext cx="6858000" cy="4200198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2500"/>
              </a:spcBef>
              <a:buAutoNum type="arabicPeriod"/>
            </a:pPr>
            <a:r>
              <a:rPr lang="en-US" b="1" dirty="0"/>
              <a:t>Project Overview</a:t>
            </a:r>
          </a:p>
          <a:p>
            <a:pPr marL="342900" indent="-342900">
              <a:spcBef>
                <a:spcPts val="2500"/>
              </a:spcBef>
              <a:buAutoNum type="arabicPeriod"/>
            </a:pPr>
            <a:r>
              <a:rPr lang="en-US" b="1" dirty="0"/>
              <a:t>Project Objectives</a:t>
            </a:r>
          </a:p>
          <a:p>
            <a:pPr marL="342900" indent="-342900">
              <a:spcBef>
                <a:spcPts val="2500"/>
              </a:spcBef>
              <a:buAutoNum type="arabicPeriod"/>
            </a:pPr>
            <a:r>
              <a:rPr lang="en-US" b="1" dirty="0"/>
              <a:t>Project Scope</a:t>
            </a:r>
          </a:p>
          <a:p>
            <a:pPr marL="342900" indent="-342900">
              <a:spcBef>
                <a:spcPts val="2500"/>
              </a:spcBef>
              <a:buAutoNum type="arabicPeriod"/>
            </a:pPr>
            <a:r>
              <a:rPr lang="en-US" b="1" dirty="0"/>
              <a:t>Analysis and Insights</a:t>
            </a:r>
          </a:p>
          <a:p>
            <a:pPr marL="342900" indent="-342900">
              <a:spcBef>
                <a:spcPts val="2500"/>
              </a:spcBef>
              <a:buAutoNum type="arabicPeriod"/>
            </a:pPr>
            <a:r>
              <a:rPr lang="en-US" b="1" dirty="0"/>
              <a:t>Conclusion</a:t>
            </a:r>
          </a:p>
          <a:p>
            <a:pPr marL="342900" indent="-342900">
              <a:spcBef>
                <a:spcPts val="2500"/>
              </a:spcBef>
              <a:buAutoNum type="arabicPeriod"/>
            </a:pPr>
            <a:endParaRPr lang="en-US" b="1" dirty="0"/>
          </a:p>
        </p:txBody>
      </p:sp>
      <p:pic>
        <p:nvPicPr>
          <p:cNvPr id="5" name="Content Placeholder 4" descr="Low angle view of empty advertising signs in Times Square, Manhattan, New York City">
            <a:extLst>
              <a:ext uri="{FF2B5EF4-FFF2-40B4-BE49-F238E27FC236}">
                <a16:creationId xmlns:a16="http://schemas.microsoft.com/office/drawing/2014/main" id="{8475D580-8C7D-4BB6-B059-ED2C6FD43B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1359" r="38732" b="-1"/>
          <a:stretch>
            <a:fillRect/>
          </a:stretch>
        </p:blipFill>
        <p:spPr>
          <a:xfrm>
            <a:off x="8091732" y="10"/>
            <a:ext cx="4100267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25651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1770-25E1-17F6-7B54-9C1D991A8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rmAutofit/>
          </a:bodyPr>
          <a:lstStyle/>
          <a:p>
            <a:r>
              <a:rPr lang="en-US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8398732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A3B7-C6F4-32DF-54F8-B117AD327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rmAutofit/>
          </a:bodyPr>
          <a:lstStyle/>
          <a:p>
            <a:r>
              <a:rPr lang="en-US" sz="5000"/>
              <a:t>Project Overview</a:t>
            </a:r>
          </a:p>
        </p:txBody>
      </p:sp>
      <p:pic>
        <p:nvPicPr>
          <p:cNvPr id="5" name="Content Placeholder 4" descr="Navigation markers on big city buildings.">
            <a:extLst>
              <a:ext uri="{FF2B5EF4-FFF2-40B4-BE49-F238E27FC236}">
                <a16:creationId xmlns:a16="http://schemas.microsoft.com/office/drawing/2014/main" id="{6327D624-F377-4D2B-BE6B-5E52FF2BEE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905" r="8154"/>
          <a:stretch>
            <a:fillRect/>
          </a:stretch>
        </p:blipFill>
        <p:spPr>
          <a:xfrm>
            <a:off x="20" y="10"/>
            <a:ext cx="758412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9AFA7-F668-E2CA-A696-C314FB98F2E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212791" y="2880360"/>
            <a:ext cx="3363259" cy="32746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Egyptian real estate market is dynamic and diverse, offering a wide range of property types from studios to luxury villas. This project focuses on the development of an interactive Power BI Dashboard to analyze current market data.</a:t>
            </a:r>
          </a:p>
          <a:p>
            <a:r>
              <a:rPr lang="en-US" dirty="0"/>
              <a:t>By utilizing a structured dataset containing critical property attributes—such as price, size (sqm), bedroom count, and payment methods—this project aims to provide stakeholders with actionable insights into pricing trends, inventory availability, and value-for-money assessments across different property categories. The dashboard will transform raw listing data into visual intelligence to assist investors, buyers, and developers in making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36300030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0C6A-3586-DADB-6ABB-968FBC41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rmAutofit/>
          </a:bodyPr>
          <a:lstStyle/>
          <a:p>
            <a:r>
              <a:rPr lang="en-US" sz="3800" dirty="0"/>
              <a:t>2. Project Objectives</a:t>
            </a:r>
          </a:p>
        </p:txBody>
      </p:sp>
      <p:pic>
        <p:nvPicPr>
          <p:cNvPr id="5" name="Content Placeholder 4" descr="3d illustration">
            <a:extLst>
              <a:ext uri="{FF2B5EF4-FFF2-40B4-BE49-F238E27FC236}">
                <a16:creationId xmlns:a16="http://schemas.microsoft.com/office/drawing/2014/main" id="{D9F8AF60-9D07-43F9-A405-DAA2089417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999" r="27213"/>
          <a:stretch>
            <a:fillRect/>
          </a:stretch>
        </p:blipFill>
        <p:spPr>
          <a:xfrm>
            <a:off x="20" y="10"/>
            <a:ext cx="4100247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05D86-0425-DA24-3EC3-B8DCF4ABDC8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18303" y="1965960"/>
            <a:ext cx="6858000" cy="4200198"/>
          </a:xfrm>
        </p:spPr>
        <p:txBody>
          <a:bodyPr>
            <a:normAutofit/>
          </a:bodyPr>
          <a:lstStyle/>
          <a:p>
            <a:r>
              <a:rPr lang="en-US" dirty="0"/>
              <a:t>The primary objective of this project is to visualize the real estate landscape in Egypt to answer key business questions. Specifically, the project aims to:</a:t>
            </a:r>
          </a:p>
          <a:p>
            <a:pPr lvl="0"/>
            <a:r>
              <a:rPr lang="en-US" dirty="0"/>
              <a:t>1- Analyze Pricing Trends: Determine the average Price and Price Per Meter across various property types (e.g., Villas vs. Studios).</a:t>
            </a:r>
          </a:p>
          <a:p>
            <a:pPr lvl="0"/>
            <a:r>
              <a:rPr lang="en-US" dirty="0"/>
              <a:t>2- Assess Payment Preferences: Evaluate the distribution of payment methods (Cash vs. Installment) and analyze the financial barrier to entry via Down Payment and Estimated Down Payment metrics.</a:t>
            </a:r>
          </a:p>
          <a:p>
            <a:pPr lvl="0"/>
            <a:r>
              <a:rPr lang="en-US" dirty="0"/>
              <a:t>3- Correlate Size and Value: Investigate the relationship between property size (Size by Meter) and total price to identify value outliers.</a:t>
            </a:r>
          </a:p>
          <a:p>
            <a:pPr lvl="0"/>
            <a:r>
              <a:rPr lang="en-US" dirty="0"/>
              <a:t>4- Monitor Inventory Status: Visualize the ratio of properties that are Ready to Move versus those Under Construction.</a:t>
            </a:r>
          </a:p>
          <a:p>
            <a:pPr lvl="0"/>
            <a:r>
              <a:rPr lang="en-US" dirty="0"/>
              <a:t>5- Bedroom/Bathroom Distribution: Segment properties based on the number of bedrooms and bathrooms to understand current market supply.</a:t>
            </a:r>
          </a:p>
        </p:txBody>
      </p:sp>
    </p:spTree>
    <p:extLst>
      <p:ext uri="{BB962C8B-B14F-4D97-AF65-F5344CB8AC3E}">
        <p14:creationId xmlns:p14="http://schemas.microsoft.com/office/powerpoint/2010/main" val="2833334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0C6A-3586-DADB-6ABB-968FBC41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rmAutofit/>
          </a:bodyPr>
          <a:lstStyle/>
          <a:p>
            <a:r>
              <a:rPr lang="en-US" sz="3800" dirty="0"/>
              <a:t>3. Project Scope</a:t>
            </a:r>
          </a:p>
        </p:txBody>
      </p:sp>
      <p:pic>
        <p:nvPicPr>
          <p:cNvPr id="5" name="Content Placeholder 4" descr="3d illustration">
            <a:extLst>
              <a:ext uri="{FF2B5EF4-FFF2-40B4-BE49-F238E27FC236}">
                <a16:creationId xmlns:a16="http://schemas.microsoft.com/office/drawing/2014/main" id="{D9F8AF60-9D07-43F9-A405-DAA2089417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999" r="27213"/>
          <a:stretch>
            <a:fillRect/>
          </a:stretch>
        </p:blipFill>
        <p:spPr>
          <a:xfrm>
            <a:off x="20" y="10"/>
            <a:ext cx="4100247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05D86-0425-DA24-3EC3-B8DCF4ABDC8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18303" y="1965960"/>
            <a:ext cx="6858000" cy="4200198"/>
          </a:xfrm>
        </p:spPr>
        <p:txBody>
          <a:bodyPr>
            <a:normAutofit/>
          </a:bodyPr>
          <a:lstStyle/>
          <a:p>
            <a:r>
              <a:rPr lang="en-US" dirty="0"/>
              <a:t>The scope defines the boundaries of this analysis and the specific data points that will be utilized.</a:t>
            </a:r>
          </a:p>
          <a:p>
            <a:r>
              <a:rPr lang="en-US" dirty="0"/>
              <a:t> Data Analysis: The project is limited to the analysis of the provided dataset columns: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Financials:</a:t>
            </a:r>
            <a:r>
              <a:rPr lang="en-US" dirty="0"/>
              <a:t> Price, Down Payment - EGP, Estimated Down Payment - EGP, Price Per Meter.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Property Attributes:</a:t>
            </a:r>
            <a:r>
              <a:rPr lang="en-US" dirty="0"/>
              <a:t> Type (Villa, Studio, etc.), Size by Meter, No of Bedrooms, No of Bathrooms.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Status &amp; Transaction:</a:t>
            </a:r>
            <a:r>
              <a:rPr lang="en-US" dirty="0"/>
              <a:t> Available or Under construction, Payment Method.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Visualization:</a:t>
            </a:r>
            <a:r>
              <a:rPr lang="en-US" dirty="0"/>
              <a:t> Creation of a Power BI dashboard including:</a:t>
            </a:r>
          </a:p>
          <a:p>
            <a:pPr lvl="0"/>
            <a:r>
              <a:rPr lang="en-US" dirty="0"/>
              <a:t>Comparative analysis charts (Bar charts for property types).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Geography:</a:t>
            </a:r>
            <a:r>
              <a:rPr lang="en-US" dirty="0"/>
              <a:t> The analysis is focused on the Egyptian market context provided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5497102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C425-D3C1-2CFE-71E3-D0D9C6B74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rmAutofit/>
          </a:bodyPr>
          <a:lstStyle/>
          <a:p>
            <a:r>
              <a:rPr lang="en-US" dirty="0"/>
              <a:t>Analysis and Insights</a:t>
            </a:r>
          </a:p>
        </p:txBody>
      </p:sp>
    </p:spTree>
    <p:extLst>
      <p:ext uri="{BB962C8B-B14F-4D97-AF65-F5344CB8AC3E}">
        <p14:creationId xmlns:p14="http://schemas.microsoft.com/office/powerpoint/2010/main" val="1964542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F4E8-3349-B637-3E67-F118A2B9E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685800"/>
            <a:ext cx="6858000" cy="1111532"/>
          </a:xfrm>
        </p:spPr>
        <p:txBody>
          <a:bodyPr anchor="b">
            <a:normAutofit/>
          </a:bodyPr>
          <a:lstStyle/>
          <a:p>
            <a:pPr algn="ctr"/>
            <a:r>
              <a:rPr lang="en-US" sz="4200" dirty="0"/>
              <a:t>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233F8-A289-49D5-9534-03AA2DF9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6" y="1866507"/>
            <a:ext cx="11387579" cy="48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906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F4E8-3349-B637-3E67-F118A2B9E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685800"/>
            <a:ext cx="6858000" cy="1111532"/>
          </a:xfrm>
        </p:spPr>
        <p:txBody>
          <a:bodyPr anchor="b">
            <a:normAutofit/>
          </a:bodyPr>
          <a:lstStyle/>
          <a:p>
            <a:pPr algn="ctr"/>
            <a:r>
              <a:rPr lang="en-US" sz="4200" dirty="0"/>
              <a:t>Details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529F3F-6C34-43E3-B89A-7C62BA44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53" y="1797332"/>
            <a:ext cx="11359299" cy="50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6274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F4E8-3349-B637-3E67-F118A2B9E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685800"/>
            <a:ext cx="6858000" cy="1111532"/>
          </a:xfrm>
        </p:spPr>
        <p:txBody>
          <a:bodyPr anchor="b">
            <a:normAutofit/>
          </a:bodyPr>
          <a:lstStyle/>
          <a:p>
            <a:pPr algn="ctr"/>
            <a:r>
              <a:rPr lang="en-US" sz="4200" dirty="0"/>
              <a:t>Price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97A4D-26B5-4166-B8A8-799891E7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1" y="1797332"/>
            <a:ext cx="11538409" cy="501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6821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B9B6-7DDA-6E98-375D-96C678F2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rmAutofit/>
          </a:bodyPr>
          <a:lstStyle/>
          <a:p>
            <a:r>
              <a:rPr lang="en-US" dirty="0"/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27246541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9D16-EA25-ED93-EE67-90E5500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4800" dirty="0"/>
              <a:t>Market Overview</a:t>
            </a:r>
            <a:endParaRPr lang="en-US" sz="5000" dirty="0"/>
          </a:p>
        </p:txBody>
      </p:sp>
      <p:pic>
        <p:nvPicPr>
          <p:cNvPr id="5" name="Content Placeholder 4" descr="Manager checking sales reports in his business office">
            <a:extLst>
              <a:ext uri="{FF2B5EF4-FFF2-40B4-BE49-F238E27FC236}">
                <a16:creationId xmlns:a16="http://schemas.microsoft.com/office/drawing/2014/main" id="{30BDCE0E-5A36-4A92-A1B4-A3A7C3877BA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488" r="32311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515-562C-3899-7B7C-D9AE3E4CE0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3886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includes 19.3K units, covering a wide range of property types and price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unit price: 16.48M, with prices ranging from 1M to 840M, reflecting both mid-range and luxury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price per sqm: 76K, positioning the market in a high-value bracket.</a:t>
            </a:r>
          </a:p>
        </p:txBody>
      </p:sp>
    </p:spTree>
    <p:extLst>
      <p:ext uri="{BB962C8B-B14F-4D97-AF65-F5344CB8AC3E}">
        <p14:creationId xmlns:p14="http://schemas.microsoft.com/office/powerpoint/2010/main" val="23569220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9D16-EA25-ED93-EE67-90E5500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4800" dirty="0"/>
              <a:t>Property Size</a:t>
            </a:r>
            <a:endParaRPr lang="en-US" sz="5000" dirty="0"/>
          </a:p>
        </p:txBody>
      </p:sp>
      <p:pic>
        <p:nvPicPr>
          <p:cNvPr id="5" name="Content Placeholder 4" descr="Manager checking sales reports in his business office">
            <a:extLst>
              <a:ext uri="{FF2B5EF4-FFF2-40B4-BE49-F238E27FC236}">
                <a16:creationId xmlns:a16="http://schemas.microsoft.com/office/drawing/2014/main" id="{30BDCE0E-5A36-4A92-A1B4-A3A7C3877BA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488" r="32311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515-562C-3899-7B7C-D9AE3E4CE0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40676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Areas range from 20 sqm to 96.1K sqm, indicating a mix of compact units, villas, and large land offerings.</a:t>
            </a:r>
          </a:p>
        </p:txBody>
      </p:sp>
    </p:spTree>
    <p:extLst>
      <p:ext uri="{BB962C8B-B14F-4D97-AF65-F5344CB8AC3E}">
        <p14:creationId xmlns:p14="http://schemas.microsoft.com/office/powerpoint/2010/main" val="1055704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9D16-EA25-ED93-EE67-90E5500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4800" dirty="0"/>
              <a:t>Geographic Distribution</a:t>
            </a:r>
            <a:endParaRPr lang="en-US" sz="5000" dirty="0"/>
          </a:p>
        </p:txBody>
      </p:sp>
      <p:pic>
        <p:nvPicPr>
          <p:cNvPr id="5" name="Content Placeholder 4" descr="Manager checking sales reports in his business office">
            <a:extLst>
              <a:ext uri="{FF2B5EF4-FFF2-40B4-BE49-F238E27FC236}">
                <a16:creationId xmlns:a16="http://schemas.microsoft.com/office/drawing/2014/main" id="{30BDCE0E-5A36-4A92-A1B4-A3A7C3877BA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488" r="32311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515-562C-3899-7B7C-D9AE3E4CE0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40676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Cairo leads with 4721 units, followed by North Coast (2151) and Giza (2004).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Minimal supply in cities like Luxor, Aswan, and </a:t>
            </a:r>
            <a:r>
              <a:rPr lang="en-US" dirty="0" err="1"/>
              <a:t>Sharqia</a:t>
            </a:r>
            <a:r>
              <a:rPr lang="en-US" dirty="0"/>
              <a:t>, showing low development activity.</a:t>
            </a:r>
          </a:p>
        </p:txBody>
      </p:sp>
    </p:spTree>
    <p:extLst>
      <p:ext uri="{BB962C8B-B14F-4D97-AF65-F5344CB8AC3E}">
        <p14:creationId xmlns:p14="http://schemas.microsoft.com/office/powerpoint/2010/main" val="19039323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9D16-EA25-ED93-EE67-90E5500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4800" dirty="0"/>
              <a:t>Property Types</a:t>
            </a:r>
            <a:endParaRPr lang="en-US" sz="5000" dirty="0"/>
          </a:p>
        </p:txBody>
      </p:sp>
      <p:pic>
        <p:nvPicPr>
          <p:cNvPr id="5" name="Content Placeholder 4" descr="Manager checking sales reports in his business office">
            <a:extLst>
              <a:ext uri="{FF2B5EF4-FFF2-40B4-BE49-F238E27FC236}">
                <a16:creationId xmlns:a16="http://schemas.microsoft.com/office/drawing/2014/main" id="{30BDCE0E-5A36-4A92-A1B4-A3A7C3877BA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488" r="32311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515-562C-3899-7B7C-D9AE3E4CE0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40676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Apartments dominate with 5839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presence of chalets, villas, and townhouses.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Luxury categories (palaces, full floors, bungalows) appear in very limited quantities.</a:t>
            </a:r>
          </a:p>
        </p:txBody>
      </p:sp>
    </p:spTree>
    <p:extLst>
      <p:ext uri="{BB962C8B-B14F-4D97-AF65-F5344CB8AC3E}">
        <p14:creationId xmlns:p14="http://schemas.microsoft.com/office/powerpoint/2010/main" val="30217351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9D16-EA25-ED93-EE67-90E5500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4800" dirty="0"/>
              <a:t>Key Observations</a:t>
            </a:r>
            <a:endParaRPr lang="en-US" sz="5000" dirty="0"/>
          </a:p>
        </p:txBody>
      </p:sp>
      <p:pic>
        <p:nvPicPr>
          <p:cNvPr id="5" name="Content Placeholder 4" descr="Manager checking sales reports in his business office">
            <a:extLst>
              <a:ext uri="{FF2B5EF4-FFF2-40B4-BE49-F238E27FC236}">
                <a16:creationId xmlns:a16="http://schemas.microsoft.com/office/drawing/2014/main" id="{30BDCE0E-5A36-4A92-A1B4-A3A7C3877BA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488" r="32311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515-562C-3899-7B7C-D9AE3E4CE0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40676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reliance on installment-based payments, given the average 1.98M down payment.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Activity is concentrated in major urban and coastal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shows strong diversity across price, size, and property type.</a:t>
            </a:r>
          </a:p>
        </p:txBody>
      </p:sp>
    </p:spTree>
    <p:extLst>
      <p:ext uri="{BB962C8B-B14F-4D97-AF65-F5344CB8AC3E}">
        <p14:creationId xmlns:p14="http://schemas.microsoft.com/office/powerpoint/2010/main" val="1665833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9D16-EA25-ED93-EE67-90E5500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5000" dirty="0"/>
              <a:t>Conclusion</a:t>
            </a:r>
          </a:p>
        </p:txBody>
      </p:sp>
      <p:pic>
        <p:nvPicPr>
          <p:cNvPr id="5" name="Content Placeholder 4" descr="Manager checking sales reports in his business office">
            <a:extLst>
              <a:ext uri="{FF2B5EF4-FFF2-40B4-BE49-F238E27FC236}">
                <a16:creationId xmlns:a16="http://schemas.microsoft.com/office/drawing/2014/main" id="{30BDCE0E-5A36-4A92-A1B4-A3A7C3877BA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488" r="32311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515-562C-3899-7B7C-D9AE3E4CE0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3886200"/>
          </a:xfrm>
        </p:spPr>
        <p:txBody>
          <a:bodyPr>
            <a:normAutofit/>
          </a:bodyPr>
          <a:lstStyle/>
          <a:p>
            <a:r>
              <a:rPr lang="en-US" dirty="0"/>
              <a:t>This dashboard serves as a vital tool for navigating the current Egyptian real estate market. By transforming raw listing data into clear visual insights, stakeholders can now easily identify pricing anomalies, assess value-for-money across different property types, and understand payment plan availability.</a:t>
            </a:r>
          </a:p>
          <a:p>
            <a:r>
              <a:rPr lang="en-US" dirty="0"/>
              <a:t>While this analysis focuses on current market snapshots, the foundational data structure established here allows for future scalability—such as incorporating historical price tracking or predictive modeling—to further enhance decision-making confidence for investors and buyers alike.</a:t>
            </a:r>
          </a:p>
        </p:txBody>
      </p:sp>
    </p:spTree>
    <p:extLst>
      <p:ext uri="{BB962C8B-B14F-4D97-AF65-F5344CB8AC3E}">
        <p14:creationId xmlns:p14="http://schemas.microsoft.com/office/powerpoint/2010/main" val="23359276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B9B6-7DDA-6E98-375D-96C678F2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rmAutofit/>
          </a:bodyPr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797426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DF10072-02C4-49CD-A62E-A2D45571E05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756</Words>
  <Application>Microsoft Office PowerPoint</Application>
  <PresentationFormat>Widescreen</PresentationFormat>
  <Paragraphs>80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Bahnschrift SemiLight</vt:lpstr>
      <vt:lpstr>Blockwork elegance</vt:lpstr>
      <vt:lpstr>Real Estate Project Analysis</vt:lpstr>
      <vt:lpstr>Presented By</vt:lpstr>
      <vt:lpstr>Introduction and Agenda</vt:lpstr>
      <vt:lpstr>Agenda</vt:lpstr>
      <vt:lpstr>Project Overview</vt:lpstr>
      <vt:lpstr>Project Overview</vt:lpstr>
      <vt:lpstr>2. Project Objectives</vt:lpstr>
      <vt:lpstr>3. Project Scope</vt:lpstr>
      <vt:lpstr>Analysis and Insights</vt:lpstr>
      <vt:lpstr>Overview</vt:lpstr>
      <vt:lpstr>Details</vt:lpstr>
      <vt:lpstr>Price</vt:lpstr>
      <vt:lpstr>Insights</vt:lpstr>
      <vt:lpstr>Market Overview</vt:lpstr>
      <vt:lpstr>Property Size</vt:lpstr>
      <vt:lpstr>Geographic Distribution</vt:lpstr>
      <vt:lpstr>Property Types</vt:lpstr>
      <vt:lpstr>Key Observations</vt:lpstr>
      <vt:lpstr>Conclusion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Project Analysis Using Power BI</dc:title>
  <dc:creator>Hesham Ahmed</dc:creator>
  <cp:lastModifiedBy>Hesham Ahmed Soliman Mohamed</cp:lastModifiedBy>
  <cp:revision>7</cp:revision>
  <dcterms:created xsi:type="dcterms:W3CDTF">2025-08-04T03:17:32Z</dcterms:created>
  <dcterms:modified xsi:type="dcterms:W3CDTF">2025-11-30T22:32:09Z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